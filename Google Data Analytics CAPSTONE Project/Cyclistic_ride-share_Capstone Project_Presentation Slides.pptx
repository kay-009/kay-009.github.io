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6" r:id="rId2"/>
    <p:sldId id="266" r:id="rId3"/>
    <p:sldId id="260" r:id="rId4"/>
    <p:sldId id="267" r:id="rId5"/>
    <p:sldId id="268" r:id="rId6"/>
    <p:sldId id="269"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68" autoAdjust="0"/>
  </p:normalViewPr>
  <p:slideViewPr>
    <p:cSldViewPr snapToGrid="0" snapToObjects="1">
      <p:cViewPr varScale="1">
        <p:scale>
          <a:sx n="80" d="100"/>
          <a:sy n="80" d="100"/>
        </p:scale>
        <p:origin x="1526" y="31"/>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149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t>To communicate findings effectively to Cyclistic’s executive team, multiple visualizations were created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26980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Commerce clause in</a:t>
            </a:r>
            <a:r>
              <a:rPr lang="en-US" baseline="0" dirty="0" smtClean="0"/>
              <a:t> Article I, Section 8, Clause 3, of the U.S. Constitution, </a:t>
            </a:r>
            <a:r>
              <a:rPr lang="en-US" sz="1200" b="0" baseline="0" dirty="0" smtClean="0">
                <a:latin typeface="Arial" panose="020B0604020202020204" pitchFamily="34" charset="0"/>
                <a:cs typeface="Arial" panose="020B0604020202020204" pitchFamily="34" charset="0"/>
              </a:rPr>
              <a:t>g</a:t>
            </a:r>
            <a:r>
              <a:rPr lang="en-US" sz="1200" b="0" dirty="0" smtClean="0">
                <a:latin typeface="Arial" panose="020B0604020202020204" pitchFamily="34" charset="0"/>
                <a:cs typeface="Arial" panose="020B0604020202020204" pitchFamily="34" charset="0"/>
              </a:rPr>
              <a:t>rants Congress the power “to regulate Commerce with foreign Nations, and among the Several States, and with the Indian Tribes”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Arial" panose="020B0604020202020204" pitchFamily="34" charset="0"/>
                <a:cs typeface="Arial" panose="020B0604020202020204" pitchFamily="34" charset="0"/>
              </a:rPr>
              <a:t>Examples of government</a:t>
            </a:r>
            <a:r>
              <a:rPr lang="en-US" sz="1200" b="0" baseline="0" dirty="0" smtClean="0">
                <a:latin typeface="Arial" panose="020B0604020202020204" pitchFamily="34" charset="0"/>
                <a:cs typeface="Arial" panose="020B0604020202020204" pitchFamily="34" charset="0"/>
              </a:rPr>
              <a:t> regulation of business include: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smtClean="0">
                <a:latin typeface="Arial" panose="020B0604020202020204" pitchFamily="34" charset="0"/>
                <a:cs typeface="Arial" panose="020B0604020202020204" pitchFamily="34" charset="0"/>
              </a:rPr>
              <a:t>Environmental Protection Agency (EPA) that restrict the emission of industrial wastes into the environment, and protect public health.</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smtClean="0">
                <a:latin typeface="Arial" panose="020B0604020202020204" pitchFamily="34" charset="0"/>
                <a:cs typeface="Arial" panose="020B0604020202020204" pitchFamily="34" charset="0"/>
              </a:rPr>
              <a:t>Federal Trade Commission (FTC) enforces consumer protection laws against false advertising and unfair trade practices.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smtClean="0">
                <a:latin typeface="Arial" panose="020B0604020202020204" pitchFamily="34" charset="0"/>
                <a:cs typeface="Arial" panose="020B0604020202020204" pitchFamily="34" charset="0"/>
              </a:rPr>
              <a:t>Occupational Safety and Health Administration (OSHA) sets workplace safety standards to reduce injuries and liabilities.</a:t>
            </a:r>
            <a:endParaRPr lang="en-US" sz="1200" b="0" dirty="0" smtClean="0">
              <a:latin typeface="Arial" panose="020B0604020202020204" pitchFamily="34" charset="0"/>
              <a:cs typeface="Arial" panose="020B0604020202020204" pitchFamily="34" charset="0"/>
            </a:endParaRPr>
          </a:p>
          <a:p>
            <a:r>
              <a:rPr dirty="0" smtClean="0"/>
              <a:t>Businesses </a:t>
            </a:r>
            <a:r>
              <a:rPr dirty="0"/>
              <a:t>must stay informed to avoid legal trouble.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bar chart comparing average ride length by rider type clearly illustrated that casual riders take longer trips than members. This visualization made the difference immediately apparent and supported the narrative around leisure versus utility usage</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7249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clustered bar chart showing the number of rides by day of week and rider type,</a:t>
            </a:r>
            <a:r>
              <a:rPr lang="en-US" baseline="0" dirty="0" smtClean="0"/>
              <a:t> </a:t>
            </a:r>
            <a:r>
              <a:rPr lang="en-US" dirty="0" smtClean="0"/>
              <a:t>highlighted the weekday dominance of members and the weekend concentration of casual riders. This chart reinforced the idea that commuting behavior is a key differentiator between the two groups.</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4871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line chart of ride volume by hour of day showed commute-time peaks for members and mid-day peaks for casual riders.</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93132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24369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94001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37867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91755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70505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571948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72168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9524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81622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5649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3901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93756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4943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625867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76413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33636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87790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1/12/2026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240529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695" y="927098"/>
            <a:ext cx="8049430" cy="709865"/>
          </a:xfrm>
        </p:spPr>
        <p:txBody>
          <a:bodyPr/>
          <a:lstStyle/>
          <a:p>
            <a:pPr algn="ctr"/>
            <a:r>
              <a:rPr lang="en-US" sz="2800" b="1" dirty="0" smtClean="0"/>
              <a:t>CYCLISTIC BIKE-SHARE VISUALIZATION</a:t>
            </a:r>
            <a:endParaRPr sz="2800" b="1" dirty="0"/>
          </a:p>
        </p:txBody>
      </p:sp>
      <p:sp>
        <p:nvSpPr>
          <p:cNvPr id="3" name="Content Placeholder 2"/>
          <p:cNvSpPr>
            <a:spLocks noGrp="1"/>
          </p:cNvSpPr>
          <p:nvPr>
            <p:ph idx="1"/>
          </p:nvPr>
        </p:nvSpPr>
        <p:spPr>
          <a:xfrm>
            <a:off x="1534084" y="3223297"/>
            <a:ext cx="6345260" cy="1386804"/>
          </a:xfrm>
        </p:spPr>
        <p:txBody>
          <a:bodyPr>
            <a:normAutofit/>
          </a:bodyPr>
          <a:lstStyle/>
          <a:p>
            <a:pPr>
              <a:lnSpc>
                <a:spcPct val="150000"/>
              </a:lnSpc>
              <a:buFont typeface="Wingdings" panose="05000000000000000000" pitchFamily="2" charset="2"/>
              <a:buChar char="q"/>
            </a:pPr>
            <a:r>
              <a:rPr lang="en-US" sz="2400" b="1" dirty="0" smtClean="0">
                <a:latin typeface="Arial" panose="020B0604020202020204" pitchFamily="34" charset="0"/>
                <a:cs typeface="Arial" panose="020B0604020202020204" pitchFamily="34" charset="0"/>
              </a:rPr>
              <a:t>Communicating </a:t>
            </a:r>
            <a:r>
              <a:rPr lang="en-US" sz="2400" b="1" dirty="0">
                <a:latin typeface="Arial" panose="020B0604020202020204" pitchFamily="34" charset="0"/>
                <a:cs typeface="Arial" panose="020B0604020202020204" pitchFamily="34" charset="0"/>
              </a:rPr>
              <a:t>findings effectively to Cyclistic’s executive </a:t>
            </a:r>
            <a:r>
              <a:rPr lang="en-US" sz="2400" b="1" dirty="0" smtClean="0">
                <a:latin typeface="Arial" panose="020B0604020202020204" pitchFamily="34" charset="0"/>
                <a:cs typeface="Arial" panose="020B0604020202020204" pitchFamily="34" charset="0"/>
              </a:rPr>
              <a:t>team</a:t>
            </a:r>
            <a:endParaRPr sz="2400" b="1" dirty="0">
              <a:latin typeface="Arial" panose="020B0604020202020204" pitchFamily="34" charset="0"/>
              <a:cs typeface="Arial" panose="020B0604020202020204" pitchFamily="34" charset="0"/>
            </a:endParaRPr>
          </a:p>
        </p:txBody>
      </p:sp>
      <p:sp>
        <p:nvSpPr>
          <p:cNvPr id="4" name="Google Shape;94;p14"/>
          <p:cNvSpPr txBox="1">
            <a:spLocks/>
          </p:cNvSpPr>
          <p:nvPr/>
        </p:nvSpPr>
        <p:spPr>
          <a:xfrm>
            <a:off x="658117" y="5248141"/>
            <a:ext cx="2793300" cy="425400"/>
          </a:xfrm>
          <a:prstGeom prst="rect">
            <a:avLst/>
          </a:prstGeom>
        </p:spPr>
        <p:txBody>
          <a:bodyPr spcFirstLastPara="1" vert="horz" wrap="square" lIns="91425" tIns="91425" rIns="91425" bIns="91425" rtlCol="0" anchor="t" anchorCtr="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spcBef>
                <a:spcPts val="0"/>
              </a:spcBef>
              <a:buFont typeface="Wingdings 3" charset="2"/>
              <a:buNone/>
            </a:pPr>
            <a:r>
              <a:rPr lang="en-US" smtClean="0"/>
              <a:t>Presenter: Kayode Adeniran</a:t>
            </a:r>
            <a:endParaRPr lang="en-US" dirty="0"/>
          </a:p>
        </p:txBody>
      </p:sp>
      <p:sp>
        <p:nvSpPr>
          <p:cNvPr id="5" name="Google Shape;95;p14"/>
          <p:cNvSpPr txBox="1">
            <a:spLocks/>
          </p:cNvSpPr>
          <p:nvPr/>
        </p:nvSpPr>
        <p:spPr>
          <a:xfrm>
            <a:off x="658117" y="5673541"/>
            <a:ext cx="2793300" cy="425400"/>
          </a:xfrm>
          <a:prstGeom prst="rect">
            <a:avLst/>
          </a:prstGeom>
        </p:spPr>
        <p:txBody>
          <a:bodyPr spcFirstLastPara="1" vert="horz" wrap="square" lIns="91425" tIns="91425" rIns="91425" bIns="91425" rtlCol="0" anchor="t" anchorCtr="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spcBef>
                <a:spcPts val="0"/>
              </a:spcBef>
              <a:buFont typeface="Wingdings 3" charset="2"/>
              <a:buNone/>
            </a:pPr>
            <a:r>
              <a:rPr lang="en-US" dirty="0" smtClean="0"/>
              <a:t>Date: July 12, 2025</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t>CYCLISTIC BIKE-SHARE VISUALIZATION</a:t>
            </a:r>
            <a:endParaRPr sz="2400" dirty="0"/>
          </a:p>
        </p:txBody>
      </p:sp>
      <p:sp>
        <p:nvSpPr>
          <p:cNvPr id="3" name="Content Placeholder 2"/>
          <p:cNvSpPr>
            <a:spLocks noGrp="1"/>
          </p:cNvSpPr>
          <p:nvPr>
            <p:ph idx="1"/>
          </p:nvPr>
        </p:nvSpPr>
        <p:spPr>
          <a:xfrm>
            <a:off x="864381" y="2489200"/>
            <a:ext cx="7636681" cy="3530600"/>
          </a:xfrm>
        </p:spPr>
        <p:txBody>
          <a:bodyPr>
            <a:noAutofit/>
          </a:bodyPr>
          <a:lstStyle/>
          <a:p>
            <a:pPr>
              <a:lnSpc>
                <a:spcPct val="170000"/>
              </a:lnSpc>
            </a:pPr>
            <a:r>
              <a:rPr lang="en-US" sz="1400" b="1" dirty="0">
                <a:latin typeface="Arial" panose="020B0604020202020204" pitchFamily="34" charset="0"/>
                <a:cs typeface="Arial" panose="020B0604020202020204" pitchFamily="34" charset="0"/>
              </a:rPr>
              <a:t>Power BI was used to create professional visualizations that compare the riding patterns of casual riders and annual members. A bar chart was designed to compare average ride duration, demonstrating that casual riders take longer trips than members. A clustered column chart shows ridership volume by day of the week, indicating that members primarily ride on weekdays, whereas casual riders peak on weekends. Lastly, a time-of-day line chart shows that members ride most frequently during morning and evening commute hours, whereas casual riders ride more consistently during midday hours. Together, these visuals clearly communicate behavioral differences and support marketing strategies focused on converting casual riders into annual members.</a:t>
            </a:r>
            <a:endParaRPr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94266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9"/>
            <a:ext cx="6343672" cy="401640"/>
          </a:xfrm>
        </p:spPr>
        <p:txBody>
          <a:bodyPr/>
          <a:lstStyle/>
          <a:p>
            <a:pPr marL="457200" indent="-457200">
              <a:buFont typeface="Wingdings" panose="05000000000000000000" pitchFamily="2" charset="2"/>
              <a:buChar char="Ø"/>
            </a:pPr>
            <a:r>
              <a:rPr lang="en-US" dirty="0" smtClean="0"/>
              <a:t>Dashboard</a:t>
            </a:r>
            <a:endParaRPr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1520" y="2377793"/>
            <a:ext cx="7498080" cy="4205533"/>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69" y="574673"/>
            <a:ext cx="6668305" cy="1106489"/>
          </a:xfrm>
        </p:spPr>
        <p:txBody>
          <a:bodyPr/>
          <a:lstStyle/>
          <a:p>
            <a:pPr marL="457200" indent="-457200">
              <a:buFont typeface="Wingdings" panose="05000000000000000000" pitchFamily="2" charset="2"/>
              <a:buChar char="Ø"/>
            </a:pPr>
            <a:r>
              <a:rPr lang="en-US" sz="2400" b="1" dirty="0" smtClean="0"/>
              <a:t>BAR CHART</a:t>
            </a:r>
            <a:r>
              <a:rPr lang="en-US" sz="2400" dirty="0" smtClean="0"/>
              <a:t>: Average Ride Length by Rider Type</a:t>
            </a:r>
            <a:endParaRPr sz="2400" dirty="0"/>
          </a:p>
        </p:txBody>
      </p:sp>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t="2120" b="357"/>
          <a:stretch/>
        </p:blipFill>
        <p:spPr>
          <a:xfrm>
            <a:off x="819602" y="2359343"/>
            <a:ext cx="7595735" cy="4206240"/>
          </a:xfrm>
        </p:spPr>
      </p:pic>
    </p:spTree>
    <p:extLst>
      <p:ext uri="{BB962C8B-B14F-4D97-AF65-F5344CB8AC3E}">
        <p14:creationId xmlns:p14="http://schemas.microsoft.com/office/powerpoint/2010/main" val="15562755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344" y="688972"/>
            <a:ext cx="7025494" cy="1106489"/>
          </a:xfrm>
        </p:spPr>
        <p:txBody>
          <a:bodyPr/>
          <a:lstStyle/>
          <a:p>
            <a:pPr marL="457200" indent="-457200">
              <a:buFont typeface="Wingdings" panose="05000000000000000000" pitchFamily="2" charset="2"/>
              <a:buChar char="Ø"/>
            </a:pPr>
            <a:r>
              <a:rPr lang="en-US" sz="2400" b="1" dirty="0" smtClean="0"/>
              <a:t>CLUSTERED BAR CHART</a:t>
            </a:r>
            <a:r>
              <a:rPr lang="en-US" sz="2400" dirty="0" smtClean="0"/>
              <a:t>: Number of Rides by Day of Week and Rider Type</a:t>
            </a:r>
            <a:endParaRPr sz="2400" dirty="0"/>
          </a:p>
        </p:txBody>
      </p:sp>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l="738" t="2604" r="738" b="-2604"/>
          <a:stretch/>
        </p:blipFill>
        <p:spPr>
          <a:xfrm>
            <a:off x="925107" y="2468880"/>
            <a:ext cx="7477459" cy="4206240"/>
          </a:xfrm>
        </p:spPr>
      </p:pic>
    </p:spTree>
    <p:extLst>
      <p:ext uri="{BB962C8B-B14F-4D97-AF65-F5344CB8AC3E}">
        <p14:creationId xmlns:p14="http://schemas.microsoft.com/office/powerpoint/2010/main" val="9735443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344" y="688972"/>
            <a:ext cx="7025494" cy="1106489"/>
          </a:xfrm>
        </p:spPr>
        <p:txBody>
          <a:bodyPr/>
          <a:lstStyle/>
          <a:p>
            <a:pPr marL="457200" indent="-457200">
              <a:buFont typeface="Wingdings" panose="05000000000000000000" pitchFamily="2" charset="2"/>
              <a:buChar char="Ø"/>
            </a:pPr>
            <a:r>
              <a:rPr lang="en-US" sz="2400" b="1" dirty="0" smtClean="0"/>
              <a:t>LINE CHART</a:t>
            </a:r>
            <a:r>
              <a:rPr lang="en-US" sz="2400" dirty="0" smtClean="0"/>
              <a:t>: Ride Volume by Hour of Day</a:t>
            </a:r>
            <a:endParaRPr sz="2400"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2334" y="2349817"/>
            <a:ext cx="7252790" cy="4206240"/>
          </a:xfrm>
        </p:spPr>
      </p:pic>
    </p:spTree>
    <p:extLst>
      <p:ext uri="{BB962C8B-B14F-4D97-AF65-F5344CB8AC3E}">
        <p14:creationId xmlns:p14="http://schemas.microsoft.com/office/powerpoint/2010/main" val="424504113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2946</TotalTime>
  <Words>413</Words>
  <Application>Microsoft Office PowerPoint</Application>
  <PresentationFormat>On-screen Show (4:3)</PresentationFormat>
  <Paragraphs>20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Century Gothic</vt:lpstr>
      <vt:lpstr>Wingdings</vt:lpstr>
      <vt:lpstr>Wingdings 3</vt:lpstr>
      <vt:lpstr>Ion Boardroom</vt:lpstr>
      <vt:lpstr>CYCLISTIC BIKE-SHARE VISUALIZATION</vt:lpstr>
      <vt:lpstr>CYCLISTIC BIKE-SHARE VISUALIZATION</vt:lpstr>
      <vt:lpstr>Dashboard</vt:lpstr>
      <vt:lpstr>BAR CHART: Average Ride Length by Rider Type</vt:lpstr>
      <vt:lpstr>CLUSTERED BAR CHART: Number of Rides by Day of Week and Rider Type</vt:lpstr>
      <vt:lpstr>LINE CHART: Ride Volume by Hour of Day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U.S. Legal System and Business</dc:title>
  <dc:subject/>
  <dc:creator>kayode Adeniran</dc:creator>
  <cp:keywords/>
  <dc:description>generated using python-pptx</dc:description>
  <cp:lastModifiedBy>kayode Adeniran</cp:lastModifiedBy>
  <cp:revision>21</cp:revision>
  <dcterms:created xsi:type="dcterms:W3CDTF">2013-01-27T09:14:16Z</dcterms:created>
  <dcterms:modified xsi:type="dcterms:W3CDTF">2026-01-12T07:15:08Z</dcterms:modified>
  <cp:category/>
</cp:coreProperties>
</file>